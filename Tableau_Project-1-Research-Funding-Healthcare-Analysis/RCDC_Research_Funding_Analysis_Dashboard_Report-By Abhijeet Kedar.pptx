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0" r:id="rId4"/>
    <p:sldId id="259" r:id="rId5"/>
    <p:sldId id="265" r:id="rId6"/>
    <p:sldId id="258" r:id="rId7"/>
    <p:sldId id="266" r:id="rId8"/>
    <p:sldId id="267" r:id="rId9"/>
    <p:sldId id="268" r:id="rId10"/>
    <p:sldId id="269" r:id="rId11"/>
    <p:sldId id="270"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3" d="100"/>
          <a:sy n="53" d="100"/>
        </p:scale>
        <p:origin x="53" y="22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846"/>
        </a:solidFill>
        <a:effectLst/>
      </p:bgPr>
    </p:bg>
    <p:spTree>
      <p:nvGrpSpPr>
        <p:cNvPr id="1" name=""/>
        <p:cNvGrpSpPr/>
        <p:nvPr/>
      </p:nvGrpSpPr>
      <p:grpSpPr>
        <a:xfrm>
          <a:off x="0" y="0"/>
          <a:ext cx="0" cy="0"/>
          <a:chOff x="0" y="0"/>
          <a:chExt cx="0" cy="0"/>
        </a:xfrm>
      </p:grpSpPr>
      <p:sp>
        <p:nvSpPr>
          <p:cNvPr id="2" name="TextBox 1"/>
          <p:cNvSpPr txBox="1"/>
          <p:nvPr/>
        </p:nvSpPr>
        <p:spPr>
          <a:xfrm>
            <a:off x="952354" y="1645920"/>
            <a:ext cx="7239289" cy="553998"/>
          </a:xfrm>
          <a:prstGeom prst="rect">
            <a:avLst/>
          </a:prstGeom>
          <a:noFill/>
        </p:spPr>
        <p:txBody>
          <a:bodyPr wrap="none">
            <a:spAutoFit/>
          </a:bodyPr>
          <a:lstStyle/>
          <a:p>
            <a:pPr>
              <a:defRPr sz="3000" b="1">
                <a:solidFill>
                  <a:srgbClr val="FFFFFF"/>
                </a:solidFill>
              </a:defRPr>
            </a:pPr>
            <a:r>
              <a:rPr lang="en-US" sz="3000" b="1" dirty="0"/>
              <a:t>RCDC Research Funding Analysis Dashboard </a:t>
            </a:r>
            <a:endParaRPr dirty="0"/>
          </a:p>
        </p:txBody>
      </p:sp>
      <p:sp>
        <p:nvSpPr>
          <p:cNvPr id="3" name="TextBox 2"/>
          <p:cNvSpPr txBox="1"/>
          <p:nvPr/>
        </p:nvSpPr>
        <p:spPr>
          <a:xfrm>
            <a:off x="3047999" y="2487168"/>
            <a:ext cx="3048000" cy="707886"/>
          </a:xfrm>
          <a:prstGeom prst="rect">
            <a:avLst/>
          </a:prstGeom>
          <a:noFill/>
        </p:spPr>
        <p:txBody>
          <a:bodyPr wrap="square">
            <a:spAutoFit/>
          </a:bodyPr>
          <a:lstStyle/>
          <a:p>
            <a:pPr>
              <a:defRPr sz="2000">
                <a:solidFill>
                  <a:srgbClr val="FFFFFF"/>
                </a:solidFill>
              </a:defRPr>
            </a:pPr>
            <a:r>
              <a:t>Professional Project Report</a:t>
            </a:r>
            <a:br/>
            <a:r>
              <a:t>Created by: Abhijeet Kedar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42846"/>
          </a:solidFill>
          <a:ln>
            <a:solidFill>
              <a:srgbClr val="1428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7315200" cy="457200"/>
          </a:xfrm>
          <a:prstGeom prst="rect">
            <a:avLst/>
          </a:prstGeom>
          <a:noFill/>
        </p:spPr>
        <p:txBody>
          <a:bodyPr wrap="none">
            <a:spAutoFit/>
          </a:bodyPr>
          <a:lstStyle/>
          <a:p>
            <a:pPr>
              <a:defRPr sz="2600" b="1">
                <a:solidFill>
                  <a:srgbClr val="FFFFFF"/>
                </a:solidFill>
              </a:defRPr>
            </a:pPr>
            <a:r>
              <a:t>Introduction</a:t>
            </a:r>
          </a:p>
        </p:txBody>
      </p:sp>
      <p:sp>
        <p:nvSpPr>
          <p:cNvPr id="4" name="Rounded Rectangle 3"/>
          <p:cNvSpPr/>
          <p:nvPr/>
        </p:nvSpPr>
        <p:spPr>
          <a:xfrm>
            <a:off x="640080" y="1097280"/>
            <a:ext cx="7772400" cy="4297680"/>
          </a:xfrm>
          <a:prstGeom prst="roundRect">
            <a:avLst/>
          </a:prstGeom>
          <a:solidFill>
            <a:srgbClr val="E4ECF7"/>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1" y="1325880"/>
            <a:ext cx="7203439" cy="2139047"/>
          </a:xfrm>
          <a:prstGeom prst="rect">
            <a:avLst/>
          </a:prstGeom>
          <a:noFill/>
        </p:spPr>
        <p:txBody>
          <a:bodyPr wrap="square">
            <a:spAutoFit/>
          </a:bodyPr>
          <a:lstStyle/>
          <a:p>
            <a:pPr algn="just">
              <a:spcAft>
                <a:spcPts val="1000"/>
              </a:spcAft>
              <a:defRPr sz="1900">
                <a:solidFill>
                  <a:srgbClr val="2D2D2D"/>
                </a:solidFill>
                <a:latin typeface="Calibri"/>
              </a:defRPr>
            </a:pPr>
            <a:r>
              <a:rPr dirty="0"/>
              <a:t>• </a:t>
            </a:r>
            <a:r>
              <a:rPr lang="en-US" sz="1900" dirty="0"/>
              <a:t>This internship project focuses on </a:t>
            </a:r>
            <a:r>
              <a:rPr lang="en-US" sz="1900" dirty="0" err="1"/>
              <a:t>analysing</a:t>
            </a:r>
            <a:r>
              <a:rPr lang="en-US" sz="1900" dirty="0"/>
              <a:t> research funding data using Tableau. The purpose of this analysis is to understand funding trends, compare funding across different research and disease areas, and observe how funding has changed over time. To achieve this, an interactive dashboard was created using multiple visualization techniques. The dashboard allows users to explore the data using filters such as year and research area.</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42846"/>
          </a:solidFill>
          <a:ln>
            <a:solidFill>
              <a:srgbClr val="1428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2647713" cy="492443"/>
          </a:xfrm>
          <a:prstGeom prst="rect">
            <a:avLst/>
          </a:prstGeom>
          <a:noFill/>
        </p:spPr>
        <p:txBody>
          <a:bodyPr wrap="none">
            <a:spAutoFit/>
          </a:bodyPr>
          <a:lstStyle/>
          <a:p>
            <a:pPr>
              <a:defRPr sz="2600" b="1">
                <a:solidFill>
                  <a:srgbClr val="FFFFFF"/>
                </a:solidFill>
              </a:defRPr>
            </a:pPr>
            <a:r>
              <a:rPr lang="en-US" dirty="0"/>
              <a:t>Dataset Overview</a:t>
            </a:r>
            <a:endParaRPr dirty="0"/>
          </a:p>
        </p:txBody>
      </p:sp>
      <p:sp>
        <p:nvSpPr>
          <p:cNvPr id="4" name="Rounded Rectangle 3"/>
          <p:cNvSpPr/>
          <p:nvPr/>
        </p:nvSpPr>
        <p:spPr>
          <a:xfrm>
            <a:off x="640080" y="1097280"/>
            <a:ext cx="7772400" cy="4297680"/>
          </a:xfrm>
          <a:prstGeom prst="roundRect">
            <a:avLst/>
          </a:prstGeom>
          <a:solidFill>
            <a:srgbClr val="E4ECF7"/>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1" y="1325880"/>
            <a:ext cx="7264400" cy="3788858"/>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t>Dataset: RCDC Research Funding Summary </a:t>
            </a:r>
          </a:p>
          <a:p>
            <a:pPr marL="285750" indent="-285750" algn="just">
              <a:lnSpc>
                <a:spcPct val="150000"/>
              </a:lnSpc>
              <a:buFont typeface="Arial" panose="020B0604020202020204" pitchFamily="34" charset="0"/>
              <a:buChar char="•"/>
            </a:pPr>
            <a:r>
              <a:rPr lang="en-US" dirty="0"/>
              <a:t>Time Period: 2008 to 2022 </a:t>
            </a:r>
          </a:p>
          <a:p>
            <a:pPr marL="285750" indent="-285750" algn="just">
              <a:lnSpc>
                <a:spcPct val="150000"/>
              </a:lnSpc>
              <a:buFont typeface="Arial" panose="020B0604020202020204" pitchFamily="34" charset="0"/>
              <a:buChar char="•"/>
            </a:pPr>
            <a:r>
              <a:rPr lang="en-IN" dirty="0"/>
              <a:t>Tool Used: Tableau Public / Tableau Desktop Public Edition</a:t>
            </a:r>
          </a:p>
          <a:p>
            <a:pPr marL="285750" indent="-285750">
              <a:lnSpc>
                <a:spcPct val="150000"/>
              </a:lnSpc>
              <a:buFont typeface="Arial" panose="020B0604020202020204" pitchFamily="34" charset="0"/>
              <a:buChar char="•"/>
            </a:pPr>
            <a:r>
              <a:rPr lang="en-US" dirty="0"/>
              <a:t>Measure Used: Funding Amount (Million USD) </a:t>
            </a:r>
          </a:p>
          <a:p>
            <a:pPr marL="285750" indent="-285750">
              <a:lnSpc>
                <a:spcPct val="150000"/>
              </a:lnSpc>
              <a:buFont typeface="Arial" panose="020B0604020202020204" pitchFamily="34" charset="0"/>
              <a:buChar char="•"/>
            </a:pPr>
            <a:r>
              <a:rPr lang="en-US" dirty="0"/>
              <a:t>The dataset contains funding information for multiple research and disease areas across different years. This data helps in </a:t>
            </a:r>
            <a:r>
              <a:rPr lang="en-US" dirty="0" err="1"/>
              <a:t>analysing</a:t>
            </a:r>
            <a:r>
              <a:rPr lang="en-US" dirty="0"/>
              <a:t> long-term trends and funding distribution. </a:t>
            </a:r>
            <a:br>
              <a:rPr lang="en-US" dirty="0"/>
            </a:br>
            <a:br>
              <a:rPr lang="en-US" dirty="0"/>
            </a:b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42846"/>
          </a:solidFill>
          <a:ln>
            <a:solidFill>
              <a:srgbClr val="1428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1765996" cy="492443"/>
          </a:xfrm>
          <a:prstGeom prst="rect">
            <a:avLst/>
          </a:prstGeom>
          <a:noFill/>
        </p:spPr>
        <p:txBody>
          <a:bodyPr wrap="none">
            <a:spAutoFit/>
          </a:bodyPr>
          <a:lstStyle/>
          <a:p>
            <a:pPr>
              <a:defRPr sz="2600" b="1">
                <a:solidFill>
                  <a:srgbClr val="FFFFFF"/>
                </a:solidFill>
              </a:defRPr>
            </a:pPr>
            <a:r>
              <a:rPr lang="en-IN" sz="2600" b="1" dirty="0"/>
              <a:t>Dashboard </a:t>
            </a:r>
            <a:endParaRPr dirty="0"/>
          </a:p>
        </p:txBody>
      </p:sp>
      <p:sp>
        <p:nvSpPr>
          <p:cNvPr id="4" name="Rounded Rectangle 3"/>
          <p:cNvSpPr/>
          <p:nvPr/>
        </p:nvSpPr>
        <p:spPr>
          <a:xfrm>
            <a:off x="640080" y="1097280"/>
            <a:ext cx="7772400" cy="4297680"/>
          </a:xfrm>
          <a:prstGeom prst="roundRect">
            <a:avLst/>
          </a:prstGeom>
          <a:solidFill>
            <a:srgbClr val="E4ECF7"/>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a:extLst>
              <a:ext uri="{FF2B5EF4-FFF2-40B4-BE49-F238E27FC236}">
                <a16:creationId xmlns:a16="http://schemas.microsoft.com/office/drawing/2014/main" id="{3AA3D659-EBC1-A0E2-D7B9-5D0D90502105}"/>
              </a:ext>
            </a:extLst>
          </p:cNvPr>
          <p:cNvPicPr>
            <a:picLocks noChangeAspect="1"/>
          </p:cNvPicPr>
          <p:nvPr/>
        </p:nvPicPr>
        <p:blipFill>
          <a:blip r:embed="rId2"/>
          <a:stretch>
            <a:fillRect/>
          </a:stretch>
        </p:blipFill>
        <p:spPr>
          <a:xfrm>
            <a:off x="1249680" y="1278242"/>
            <a:ext cx="6553200" cy="393575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D8C9A20-17B2-A002-CF0A-6E64CEDC2EF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64B2031-C6D3-BDAD-95FF-92D499042EB6}"/>
              </a:ext>
            </a:extLst>
          </p:cNvPr>
          <p:cNvSpPr/>
          <p:nvPr/>
        </p:nvSpPr>
        <p:spPr>
          <a:xfrm>
            <a:off x="0" y="0"/>
            <a:ext cx="9144000" cy="685800"/>
          </a:xfrm>
          <a:prstGeom prst="rect">
            <a:avLst/>
          </a:prstGeom>
          <a:solidFill>
            <a:srgbClr val="142846"/>
          </a:solidFill>
          <a:ln>
            <a:solidFill>
              <a:srgbClr val="1428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D515DF8C-F0AF-38CC-D6A2-AAF13594E42F}"/>
              </a:ext>
            </a:extLst>
          </p:cNvPr>
          <p:cNvSpPr txBox="1"/>
          <p:nvPr/>
        </p:nvSpPr>
        <p:spPr>
          <a:xfrm>
            <a:off x="457200" y="73152"/>
            <a:ext cx="3351687" cy="492443"/>
          </a:xfrm>
          <a:prstGeom prst="rect">
            <a:avLst/>
          </a:prstGeom>
          <a:noFill/>
        </p:spPr>
        <p:txBody>
          <a:bodyPr wrap="none">
            <a:spAutoFit/>
          </a:bodyPr>
          <a:lstStyle/>
          <a:p>
            <a:pPr>
              <a:defRPr sz="2600" b="1">
                <a:solidFill>
                  <a:srgbClr val="FFFFFF"/>
                </a:solidFill>
              </a:defRPr>
            </a:pPr>
            <a:r>
              <a:rPr lang="en-IN" sz="2600" b="1" dirty="0"/>
              <a:t>Dashboard Description</a:t>
            </a:r>
            <a:endParaRPr dirty="0"/>
          </a:p>
        </p:txBody>
      </p:sp>
      <p:sp>
        <p:nvSpPr>
          <p:cNvPr id="4" name="Rounded Rectangle 3">
            <a:extLst>
              <a:ext uri="{FF2B5EF4-FFF2-40B4-BE49-F238E27FC236}">
                <a16:creationId xmlns:a16="http://schemas.microsoft.com/office/drawing/2014/main" id="{21A1743C-2FE5-2619-1706-863DD300A358}"/>
              </a:ext>
            </a:extLst>
          </p:cNvPr>
          <p:cNvSpPr/>
          <p:nvPr/>
        </p:nvSpPr>
        <p:spPr>
          <a:xfrm>
            <a:off x="640080" y="1097280"/>
            <a:ext cx="7772400" cy="4297680"/>
          </a:xfrm>
          <a:prstGeom prst="roundRect">
            <a:avLst/>
          </a:prstGeom>
          <a:solidFill>
            <a:srgbClr val="E4ECF7"/>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1E54A66F-7A66-848B-DFE7-EFEB4D9B0DA8}"/>
              </a:ext>
            </a:extLst>
          </p:cNvPr>
          <p:cNvSpPr txBox="1"/>
          <p:nvPr/>
        </p:nvSpPr>
        <p:spPr>
          <a:xfrm>
            <a:off x="1028700" y="1295400"/>
            <a:ext cx="7086600" cy="3373359"/>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t>The dashboard is designed to give a complete overview of research funding patterns. It includes multiple charts arranged in a structured layout for better understanding. </a:t>
            </a:r>
          </a:p>
          <a:p>
            <a:pPr marL="285750" indent="-285750" algn="just">
              <a:lnSpc>
                <a:spcPct val="150000"/>
              </a:lnSpc>
              <a:buFont typeface="Arial" panose="020B0604020202020204" pitchFamily="34" charset="0"/>
              <a:buChar char="•"/>
            </a:pPr>
            <a:r>
              <a:rPr lang="en-US" dirty="0"/>
              <a:t>Interactive filters are provided at the top to allow users to focus on specific areas or time periods. </a:t>
            </a:r>
          </a:p>
          <a:p>
            <a:pPr marL="285750" indent="-285750" algn="just">
              <a:lnSpc>
                <a:spcPct val="150000"/>
              </a:lnSpc>
              <a:buFont typeface="Courier New" panose="02070309020205020404" pitchFamily="49" charset="0"/>
              <a:buChar char="o"/>
            </a:pPr>
            <a:r>
              <a:rPr lang="en-US" dirty="0"/>
              <a:t> Research/Disease Area filter </a:t>
            </a:r>
          </a:p>
          <a:p>
            <a:pPr marL="285750" indent="-285750" algn="just">
              <a:lnSpc>
                <a:spcPct val="150000"/>
              </a:lnSpc>
              <a:buFont typeface="Courier New" panose="02070309020205020404" pitchFamily="49" charset="0"/>
              <a:buChar char="o"/>
            </a:pPr>
            <a:r>
              <a:rPr lang="en-US" dirty="0"/>
              <a:t>Year range filter </a:t>
            </a:r>
          </a:p>
          <a:p>
            <a:pPr marL="285750" indent="-285750" algn="just">
              <a:lnSpc>
                <a:spcPct val="150000"/>
              </a:lnSpc>
              <a:buFont typeface="Courier New" panose="02070309020205020404" pitchFamily="49" charset="0"/>
              <a:buChar char="o"/>
            </a:pPr>
            <a:r>
              <a:rPr lang="en-US" dirty="0"/>
              <a:t>Funding amount indicator </a:t>
            </a:r>
          </a:p>
        </p:txBody>
      </p:sp>
    </p:spTree>
    <p:extLst>
      <p:ext uri="{BB962C8B-B14F-4D97-AF65-F5344CB8AC3E}">
        <p14:creationId xmlns:p14="http://schemas.microsoft.com/office/powerpoint/2010/main" val="17628237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42846"/>
          </a:solidFill>
          <a:ln>
            <a:solidFill>
              <a:srgbClr val="1428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3235373" cy="492443"/>
          </a:xfrm>
          <a:prstGeom prst="rect">
            <a:avLst/>
          </a:prstGeom>
          <a:noFill/>
        </p:spPr>
        <p:txBody>
          <a:bodyPr wrap="none">
            <a:spAutoFit/>
          </a:bodyPr>
          <a:lstStyle/>
          <a:p>
            <a:pPr>
              <a:defRPr sz="2600" b="1">
                <a:solidFill>
                  <a:srgbClr val="FFFFFF"/>
                </a:solidFill>
              </a:defRPr>
            </a:pPr>
            <a:r>
              <a:rPr lang="en-IN" sz="2600" b="1" dirty="0"/>
              <a:t>Visualization Analysis </a:t>
            </a:r>
            <a:endParaRPr dirty="0"/>
          </a:p>
        </p:txBody>
      </p:sp>
      <p:sp>
        <p:nvSpPr>
          <p:cNvPr id="4" name="Rounded Rectangle 3"/>
          <p:cNvSpPr/>
          <p:nvPr/>
        </p:nvSpPr>
        <p:spPr>
          <a:xfrm>
            <a:off x="640080" y="1097280"/>
            <a:ext cx="7772400" cy="4297680"/>
          </a:xfrm>
          <a:prstGeom prst="roundRect">
            <a:avLst/>
          </a:prstGeom>
          <a:solidFill>
            <a:srgbClr val="E4ECF7"/>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0828" y="1325880"/>
            <a:ext cx="7388772" cy="3373359"/>
          </a:xfrm>
          <a:prstGeom prst="rect">
            <a:avLst/>
          </a:prstGeom>
          <a:noFill/>
        </p:spPr>
        <p:txBody>
          <a:bodyPr wrap="square">
            <a:spAutoFit/>
          </a:bodyPr>
          <a:lstStyle/>
          <a:p>
            <a:pPr algn="just">
              <a:lnSpc>
                <a:spcPct val="150000"/>
              </a:lnSpc>
            </a:pPr>
            <a:r>
              <a:rPr lang="en-US" b="1" u="sng" dirty="0"/>
              <a:t>1 Funding Trends Over Time (Line Chart) : </a:t>
            </a:r>
          </a:p>
          <a:p>
            <a:pPr algn="just">
              <a:lnSpc>
                <a:spcPct val="150000"/>
              </a:lnSpc>
            </a:pPr>
            <a:r>
              <a:rPr lang="en-US" dirty="0"/>
              <a:t>This chart shows how funding has changed from 2008 to 2022 for different research areas. </a:t>
            </a:r>
          </a:p>
          <a:p>
            <a:pPr algn="just">
              <a:lnSpc>
                <a:spcPct val="150000"/>
              </a:lnSpc>
            </a:pPr>
            <a:r>
              <a:rPr lang="en-US" b="1" u="sng" dirty="0"/>
              <a:t>Key Observations: </a:t>
            </a:r>
          </a:p>
          <a:p>
            <a:pPr algn="just">
              <a:lnSpc>
                <a:spcPct val="150000"/>
              </a:lnSpc>
            </a:pPr>
            <a:r>
              <a:rPr lang="en-US" dirty="0"/>
              <a:t>• Overall funding shows a steady increase over time. </a:t>
            </a:r>
          </a:p>
          <a:p>
            <a:pPr algn="just">
              <a:lnSpc>
                <a:spcPct val="150000"/>
              </a:lnSpc>
            </a:pPr>
            <a:r>
              <a:rPr lang="en-US" dirty="0"/>
              <a:t>• Some research areas grow faster compared to others. </a:t>
            </a:r>
          </a:p>
          <a:p>
            <a:pPr algn="just">
              <a:lnSpc>
                <a:spcPct val="150000"/>
              </a:lnSpc>
            </a:pPr>
            <a:r>
              <a:rPr lang="en-US" dirty="0"/>
              <a:t>• Funding growth is more visible after 2015. </a:t>
            </a:r>
          </a:p>
          <a:p>
            <a:pPr algn="just">
              <a:lnSpc>
                <a:spcPct val="150000"/>
              </a:lnSpc>
            </a:pPr>
            <a:r>
              <a:rPr lang="en-US" dirty="0"/>
              <a:t>This chart helps in understanding long-term funding behaviors. </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7262700-D5CC-9F4D-2BBC-3BC974D5749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753444F-A9EA-7A26-3217-C67B02AFFC7D}"/>
              </a:ext>
            </a:extLst>
          </p:cNvPr>
          <p:cNvSpPr/>
          <p:nvPr/>
        </p:nvSpPr>
        <p:spPr>
          <a:xfrm>
            <a:off x="0" y="0"/>
            <a:ext cx="9144000" cy="685800"/>
          </a:xfrm>
          <a:prstGeom prst="rect">
            <a:avLst/>
          </a:prstGeom>
          <a:solidFill>
            <a:srgbClr val="142846"/>
          </a:solidFill>
          <a:ln>
            <a:solidFill>
              <a:srgbClr val="1428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67EC75D5-E0E7-6123-1CD1-0B74351D6AB2}"/>
              </a:ext>
            </a:extLst>
          </p:cNvPr>
          <p:cNvSpPr txBox="1"/>
          <p:nvPr/>
        </p:nvSpPr>
        <p:spPr>
          <a:xfrm>
            <a:off x="457200" y="73152"/>
            <a:ext cx="3235373" cy="492443"/>
          </a:xfrm>
          <a:prstGeom prst="rect">
            <a:avLst/>
          </a:prstGeom>
          <a:noFill/>
        </p:spPr>
        <p:txBody>
          <a:bodyPr wrap="none">
            <a:spAutoFit/>
          </a:bodyPr>
          <a:lstStyle/>
          <a:p>
            <a:pPr>
              <a:defRPr sz="2600" b="1">
                <a:solidFill>
                  <a:srgbClr val="FFFFFF"/>
                </a:solidFill>
              </a:defRPr>
            </a:pPr>
            <a:r>
              <a:rPr lang="en-IN" sz="2600" b="1" dirty="0"/>
              <a:t>Visualization Analysis </a:t>
            </a:r>
            <a:endParaRPr dirty="0"/>
          </a:p>
        </p:txBody>
      </p:sp>
      <p:sp>
        <p:nvSpPr>
          <p:cNvPr id="4" name="Rounded Rectangle 3">
            <a:extLst>
              <a:ext uri="{FF2B5EF4-FFF2-40B4-BE49-F238E27FC236}">
                <a16:creationId xmlns:a16="http://schemas.microsoft.com/office/drawing/2014/main" id="{E3B615FE-26F7-7FCF-D369-EFDEFD5763AC}"/>
              </a:ext>
            </a:extLst>
          </p:cNvPr>
          <p:cNvSpPr/>
          <p:nvPr/>
        </p:nvSpPr>
        <p:spPr>
          <a:xfrm>
            <a:off x="640080" y="1097280"/>
            <a:ext cx="7772400" cy="4297680"/>
          </a:xfrm>
          <a:prstGeom prst="roundRect">
            <a:avLst/>
          </a:prstGeom>
          <a:solidFill>
            <a:srgbClr val="E4ECF7"/>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1C224522-8AEF-0EC2-DE0A-EDB5FB38D1E9}"/>
              </a:ext>
            </a:extLst>
          </p:cNvPr>
          <p:cNvSpPr txBox="1"/>
          <p:nvPr/>
        </p:nvSpPr>
        <p:spPr>
          <a:xfrm>
            <a:off x="840828" y="1325880"/>
            <a:ext cx="7388772" cy="3373359"/>
          </a:xfrm>
          <a:prstGeom prst="rect">
            <a:avLst/>
          </a:prstGeom>
          <a:noFill/>
        </p:spPr>
        <p:txBody>
          <a:bodyPr wrap="square">
            <a:spAutoFit/>
          </a:bodyPr>
          <a:lstStyle/>
          <a:p>
            <a:pPr algn="just">
              <a:lnSpc>
                <a:spcPct val="150000"/>
              </a:lnSpc>
            </a:pPr>
            <a:r>
              <a:rPr lang="en-US" b="1" u="sng" dirty="0"/>
              <a:t>2 Waterfall Chart</a:t>
            </a:r>
            <a:r>
              <a:rPr lang="en-US" dirty="0"/>
              <a:t>: </a:t>
            </a:r>
          </a:p>
          <a:p>
            <a:pPr algn="just">
              <a:lnSpc>
                <a:spcPct val="150000"/>
              </a:lnSpc>
            </a:pPr>
            <a:r>
              <a:rPr lang="en-US" dirty="0"/>
              <a:t>Funding Change Over Time - The waterfall chart displays year-wise changes in funding. </a:t>
            </a:r>
          </a:p>
          <a:p>
            <a:pPr algn="just">
              <a:lnSpc>
                <a:spcPct val="150000"/>
              </a:lnSpc>
            </a:pPr>
            <a:r>
              <a:rPr lang="en-US" b="1" u="sng" dirty="0"/>
              <a:t>Key Observations: </a:t>
            </a:r>
          </a:p>
          <a:p>
            <a:pPr algn="just">
              <a:lnSpc>
                <a:spcPct val="150000"/>
              </a:lnSpc>
            </a:pPr>
            <a:r>
              <a:rPr lang="en-US" dirty="0"/>
              <a:t>• Most years show positive funding growth. </a:t>
            </a:r>
          </a:p>
          <a:p>
            <a:pPr algn="just">
              <a:lnSpc>
                <a:spcPct val="150000"/>
              </a:lnSpc>
            </a:pPr>
            <a:r>
              <a:rPr lang="en-US" dirty="0"/>
              <a:t>• Negative changes are minimal compared to positive changes. </a:t>
            </a:r>
          </a:p>
          <a:p>
            <a:pPr algn="just">
              <a:lnSpc>
                <a:spcPct val="150000"/>
              </a:lnSpc>
            </a:pPr>
            <a:r>
              <a:rPr lang="en-US" dirty="0"/>
              <a:t>• The chart clearly shows how funding accumulates year by year. </a:t>
            </a:r>
          </a:p>
          <a:p>
            <a:pPr algn="just">
              <a:lnSpc>
                <a:spcPct val="150000"/>
              </a:lnSpc>
            </a:pPr>
            <a:r>
              <a:rPr lang="en-US" dirty="0"/>
              <a:t>This visualization is useful for tracking funding increases and decreases. </a:t>
            </a:r>
            <a:endParaRPr dirty="0"/>
          </a:p>
        </p:txBody>
      </p:sp>
    </p:spTree>
    <p:extLst>
      <p:ext uri="{BB962C8B-B14F-4D97-AF65-F5344CB8AC3E}">
        <p14:creationId xmlns:p14="http://schemas.microsoft.com/office/powerpoint/2010/main" val="29340832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B123F36-FD65-D04C-E96C-0AB3E76DBAC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328E643-3E0E-3958-7D26-DCDC308D32C6}"/>
              </a:ext>
            </a:extLst>
          </p:cNvPr>
          <p:cNvSpPr/>
          <p:nvPr/>
        </p:nvSpPr>
        <p:spPr>
          <a:xfrm>
            <a:off x="0" y="0"/>
            <a:ext cx="9144000" cy="685800"/>
          </a:xfrm>
          <a:prstGeom prst="rect">
            <a:avLst/>
          </a:prstGeom>
          <a:solidFill>
            <a:srgbClr val="142846"/>
          </a:solidFill>
          <a:ln>
            <a:solidFill>
              <a:srgbClr val="1428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00ED54A-A279-5BCC-4F77-A0D52F3D3E88}"/>
              </a:ext>
            </a:extLst>
          </p:cNvPr>
          <p:cNvSpPr txBox="1"/>
          <p:nvPr/>
        </p:nvSpPr>
        <p:spPr>
          <a:xfrm>
            <a:off x="457200" y="73152"/>
            <a:ext cx="3235373" cy="492443"/>
          </a:xfrm>
          <a:prstGeom prst="rect">
            <a:avLst/>
          </a:prstGeom>
          <a:noFill/>
        </p:spPr>
        <p:txBody>
          <a:bodyPr wrap="none">
            <a:spAutoFit/>
          </a:bodyPr>
          <a:lstStyle/>
          <a:p>
            <a:pPr>
              <a:defRPr sz="2600" b="1">
                <a:solidFill>
                  <a:srgbClr val="FFFFFF"/>
                </a:solidFill>
              </a:defRPr>
            </a:pPr>
            <a:r>
              <a:rPr lang="en-IN" sz="2600" b="1" dirty="0"/>
              <a:t>Visualization Analysis </a:t>
            </a:r>
            <a:endParaRPr dirty="0"/>
          </a:p>
        </p:txBody>
      </p:sp>
      <p:sp>
        <p:nvSpPr>
          <p:cNvPr id="4" name="Rounded Rectangle 3">
            <a:extLst>
              <a:ext uri="{FF2B5EF4-FFF2-40B4-BE49-F238E27FC236}">
                <a16:creationId xmlns:a16="http://schemas.microsoft.com/office/drawing/2014/main" id="{2D55CC2F-2999-5E37-ECC1-425A671F198F}"/>
              </a:ext>
            </a:extLst>
          </p:cNvPr>
          <p:cNvSpPr/>
          <p:nvPr/>
        </p:nvSpPr>
        <p:spPr>
          <a:xfrm>
            <a:off x="640080" y="1097280"/>
            <a:ext cx="7772400" cy="4297680"/>
          </a:xfrm>
          <a:prstGeom prst="roundRect">
            <a:avLst/>
          </a:prstGeom>
          <a:solidFill>
            <a:srgbClr val="E4ECF7"/>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502A54ED-34A7-AB52-DEAC-56DA5CAFEAE8}"/>
              </a:ext>
            </a:extLst>
          </p:cNvPr>
          <p:cNvSpPr txBox="1"/>
          <p:nvPr/>
        </p:nvSpPr>
        <p:spPr>
          <a:xfrm>
            <a:off x="840828" y="1325880"/>
            <a:ext cx="7388772" cy="2957861"/>
          </a:xfrm>
          <a:prstGeom prst="rect">
            <a:avLst/>
          </a:prstGeom>
          <a:noFill/>
        </p:spPr>
        <p:txBody>
          <a:bodyPr wrap="square">
            <a:spAutoFit/>
          </a:bodyPr>
          <a:lstStyle/>
          <a:p>
            <a:pPr algn="just">
              <a:lnSpc>
                <a:spcPct val="150000"/>
              </a:lnSpc>
            </a:pPr>
            <a:r>
              <a:rPr lang="en-US" b="1" u="sng" dirty="0"/>
              <a:t>3 Funding Funnel by Research Area</a:t>
            </a:r>
            <a:r>
              <a:rPr lang="en-US" dirty="0"/>
              <a:t> : </a:t>
            </a:r>
          </a:p>
          <a:p>
            <a:pPr algn="just">
              <a:lnSpc>
                <a:spcPct val="150000"/>
              </a:lnSpc>
            </a:pPr>
            <a:r>
              <a:rPr lang="en-US" dirty="0"/>
              <a:t>The funnel chart represents funding stages across different research areas. </a:t>
            </a:r>
            <a:r>
              <a:rPr lang="en-US" b="1" u="sng" dirty="0"/>
              <a:t>Key Observations: </a:t>
            </a:r>
          </a:p>
          <a:p>
            <a:pPr algn="just">
              <a:lnSpc>
                <a:spcPct val="150000"/>
              </a:lnSpc>
            </a:pPr>
            <a:r>
              <a:rPr lang="en-US" dirty="0"/>
              <a:t>• A few research areas receive very high funding. </a:t>
            </a:r>
          </a:p>
          <a:p>
            <a:pPr algn="just">
              <a:lnSpc>
                <a:spcPct val="150000"/>
              </a:lnSpc>
            </a:pPr>
            <a:r>
              <a:rPr lang="en-US" dirty="0"/>
              <a:t>• Funding gradually decreases for other areas. </a:t>
            </a:r>
          </a:p>
          <a:p>
            <a:pPr algn="just">
              <a:lnSpc>
                <a:spcPct val="150000"/>
              </a:lnSpc>
            </a:pPr>
            <a:r>
              <a:rPr lang="en-US" dirty="0"/>
              <a:t>• It highlights funding concentration. </a:t>
            </a:r>
          </a:p>
          <a:p>
            <a:pPr algn="just">
              <a:lnSpc>
                <a:spcPct val="150000"/>
              </a:lnSpc>
            </a:pPr>
            <a:r>
              <a:rPr lang="en-US" dirty="0"/>
              <a:t>This chart helps in identifying priority research areas. </a:t>
            </a:r>
            <a:endParaRPr dirty="0"/>
          </a:p>
        </p:txBody>
      </p:sp>
    </p:spTree>
    <p:extLst>
      <p:ext uri="{BB962C8B-B14F-4D97-AF65-F5344CB8AC3E}">
        <p14:creationId xmlns:p14="http://schemas.microsoft.com/office/powerpoint/2010/main" val="4736993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A64742E-AA58-5548-99CC-9CFC846250A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51CC31F-026D-73DB-7FE4-71D6623E1EB1}"/>
              </a:ext>
            </a:extLst>
          </p:cNvPr>
          <p:cNvSpPr/>
          <p:nvPr/>
        </p:nvSpPr>
        <p:spPr>
          <a:xfrm>
            <a:off x="0" y="0"/>
            <a:ext cx="9144000" cy="685800"/>
          </a:xfrm>
          <a:prstGeom prst="rect">
            <a:avLst/>
          </a:prstGeom>
          <a:solidFill>
            <a:srgbClr val="142846"/>
          </a:solidFill>
          <a:ln>
            <a:solidFill>
              <a:srgbClr val="1428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EE2D0F86-8D44-759E-A534-2D0B76A889ED}"/>
              </a:ext>
            </a:extLst>
          </p:cNvPr>
          <p:cNvSpPr txBox="1"/>
          <p:nvPr/>
        </p:nvSpPr>
        <p:spPr>
          <a:xfrm>
            <a:off x="457200" y="73152"/>
            <a:ext cx="3235373" cy="492443"/>
          </a:xfrm>
          <a:prstGeom prst="rect">
            <a:avLst/>
          </a:prstGeom>
          <a:noFill/>
        </p:spPr>
        <p:txBody>
          <a:bodyPr wrap="none">
            <a:spAutoFit/>
          </a:bodyPr>
          <a:lstStyle/>
          <a:p>
            <a:pPr>
              <a:defRPr sz="2600" b="1">
                <a:solidFill>
                  <a:srgbClr val="FFFFFF"/>
                </a:solidFill>
              </a:defRPr>
            </a:pPr>
            <a:r>
              <a:rPr lang="en-IN" sz="2600" b="1" dirty="0"/>
              <a:t>Visualization Analysis </a:t>
            </a:r>
            <a:endParaRPr dirty="0"/>
          </a:p>
        </p:txBody>
      </p:sp>
      <p:sp>
        <p:nvSpPr>
          <p:cNvPr id="4" name="Rounded Rectangle 3">
            <a:extLst>
              <a:ext uri="{FF2B5EF4-FFF2-40B4-BE49-F238E27FC236}">
                <a16:creationId xmlns:a16="http://schemas.microsoft.com/office/drawing/2014/main" id="{B38DC614-29B5-AC3A-869A-78B56BFFBFAB}"/>
              </a:ext>
            </a:extLst>
          </p:cNvPr>
          <p:cNvSpPr/>
          <p:nvPr/>
        </p:nvSpPr>
        <p:spPr>
          <a:xfrm>
            <a:off x="640080" y="1097280"/>
            <a:ext cx="7772400" cy="4297680"/>
          </a:xfrm>
          <a:prstGeom prst="roundRect">
            <a:avLst/>
          </a:prstGeom>
          <a:solidFill>
            <a:srgbClr val="E4ECF7"/>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1A3CA785-9912-B7D1-277D-BAE0535344D4}"/>
              </a:ext>
            </a:extLst>
          </p:cNvPr>
          <p:cNvSpPr txBox="1"/>
          <p:nvPr/>
        </p:nvSpPr>
        <p:spPr>
          <a:xfrm>
            <a:off x="840828" y="1325880"/>
            <a:ext cx="7388772" cy="2957861"/>
          </a:xfrm>
          <a:prstGeom prst="rect">
            <a:avLst/>
          </a:prstGeom>
          <a:noFill/>
        </p:spPr>
        <p:txBody>
          <a:bodyPr wrap="square">
            <a:spAutoFit/>
          </a:bodyPr>
          <a:lstStyle/>
          <a:p>
            <a:pPr algn="just">
              <a:lnSpc>
                <a:spcPct val="150000"/>
              </a:lnSpc>
            </a:pPr>
            <a:r>
              <a:rPr lang="en-US" b="1" u="sng" dirty="0"/>
              <a:t>4 Funding Comparison by Area (Bar Chart)</a:t>
            </a:r>
            <a:r>
              <a:rPr lang="en-US" dirty="0"/>
              <a:t> :</a:t>
            </a:r>
          </a:p>
          <a:p>
            <a:pPr algn="just">
              <a:lnSpc>
                <a:spcPct val="150000"/>
              </a:lnSpc>
            </a:pPr>
            <a:r>
              <a:rPr lang="en-US" dirty="0"/>
              <a:t>This chart compares funding across different research areas and years. </a:t>
            </a:r>
          </a:p>
          <a:p>
            <a:pPr algn="just">
              <a:lnSpc>
                <a:spcPct val="150000"/>
              </a:lnSpc>
            </a:pPr>
            <a:r>
              <a:rPr lang="en-US" b="1" u="sng" dirty="0"/>
              <a:t>Key Observations: </a:t>
            </a:r>
          </a:p>
          <a:p>
            <a:pPr algn="just">
              <a:lnSpc>
                <a:spcPct val="150000"/>
              </a:lnSpc>
            </a:pPr>
            <a:r>
              <a:rPr lang="en-US" dirty="0"/>
              <a:t>• Funding varies significantly across research areas. </a:t>
            </a:r>
          </a:p>
          <a:p>
            <a:pPr algn="just">
              <a:lnSpc>
                <a:spcPct val="150000"/>
              </a:lnSpc>
            </a:pPr>
            <a:r>
              <a:rPr lang="en-US" dirty="0"/>
              <a:t>• Some areas consistently receive higher funding. </a:t>
            </a:r>
          </a:p>
          <a:p>
            <a:pPr algn="just">
              <a:lnSpc>
                <a:spcPct val="150000"/>
              </a:lnSpc>
            </a:pPr>
            <a:r>
              <a:rPr lang="en-US" dirty="0"/>
              <a:t>• It is easy to compare multiple areas at once. </a:t>
            </a:r>
          </a:p>
          <a:p>
            <a:pPr algn="just">
              <a:lnSpc>
                <a:spcPct val="150000"/>
              </a:lnSpc>
            </a:pPr>
            <a:r>
              <a:rPr lang="en-US" dirty="0"/>
              <a:t>This visualization supports comparison-based analysis. </a:t>
            </a:r>
            <a:endParaRPr dirty="0"/>
          </a:p>
        </p:txBody>
      </p:sp>
    </p:spTree>
    <p:extLst>
      <p:ext uri="{BB962C8B-B14F-4D97-AF65-F5344CB8AC3E}">
        <p14:creationId xmlns:p14="http://schemas.microsoft.com/office/powerpoint/2010/main" val="4875533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ED120EC-DD3F-F258-AE4C-E93C5B2493A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08808F1-283F-22B2-963F-B4729025FAF9}"/>
              </a:ext>
            </a:extLst>
          </p:cNvPr>
          <p:cNvSpPr/>
          <p:nvPr/>
        </p:nvSpPr>
        <p:spPr>
          <a:xfrm>
            <a:off x="0" y="0"/>
            <a:ext cx="9144000" cy="685800"/>
          </a:xfrm>
          <a:prstGeom prst="rect">
            <a:avLst/>
          </a:prstGeom>
          <a:solidFill>
            <a:srgbClr val="142846"/>
          </a:solidFill>
          <a:ln>
            <a:solidFill>
              <a:srgbClr val="1428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9371EDB-D33E-2324-22A3-465749BFE4E7}"/>
              </a:ext>
            </a:extLst>
          </p:cNvPr>
          <p:cNvSpPr txBox="1"/>
          <p:nvPr/>
        </p:nvSpPr>
        <p:spPr>
          <a:xfrm>
            <a:off x="457200" y="73152"/>
            <a:ext cx="3235373" cy="492443"/>
          </a:xfrm>
          <a:prstGeom prst="rect">
            <a:avLst/>
          </a:prstGeom>
          <a:noFill/>
        </p:spPr>
        <p:txBody>
          <a:bodyPr wrap="none">
            <a:spAutoFit/>
          </a:bodyPr>
          <a:lstStyle/>
          <a:p>
            <a:pPr>
              <a:defRPr sz="2600" b="1">
                <a:solidFill>
                  <a:srgbClr val="FFFFFF"/>
                </a:solidFill>
              </a:defRPr>
            </a:pPr>
            <a:r>
              <a:rPr lang="en-IN" sz="2600" b="1" dirty="0"/>
              <a:t>Visualization Analysis </a:t>
            </a:r>
            <a:endParaRPr dirty="0"/>
          </a:p>
        </p:txBody>
      </p:sp>
      <p:sp>
        <p:nvSpPr>
          <p:cNvPr id="4" name="Rounded Rectangle 3">
            <a:extLst>
              <a:ext uri="{FF2B5EF4-FFF2-40B4-BE49-F238E27FC236}">
                <a16:creationId xmlns:a16="http://schemas.microsoft.com/office/drawing/2014/main" id="{9080C49B-936D-D53A-448B-6189F96B29F7}"/>
              </a:ext>
            </a:extLst>
          </p:cNvPr>
          <p:cNvSpPr/>
          <p:nvPr/>
        </p:nvSpPr>
        <p:spPr>
          <a:xfrm>
            <a:off x="640080" y="1097280"/>
            <a:ext cx="7772400" cy="4297680"/>
          </a:xfrm>
          <a:prstGeom prst="roundRect">
            <a:avLst/>
          </a:prstGeom>
          <a:solidFill>
            <a:srgbClr val="E4ECF7"/>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964D7005-5307-D97B-0BA0-D89C3D1805B7}"/>
              </a:ext>
            </a:extLst>
          </p:cNvPr>
          <p:cNvSpPr txBox="1"/>
          <p:nvPr/>
        </p:nvSpPr>
        <p:spPr>
          <a:xfrm>
            <a:off x="840828" y="1325880"/>
            <a:ext cx="7388772" cy="2957861"/>
          </a:xfrm>
          <a:prstGeom prst="rect">
            <a:avLst/>
          </a:prstGeom>
          <a:noFill/>
        </p:spPr>
        <p:txBody>
          <a:bodyPr wrap="square">
            <a:spAutoFit/>
          </a:bodyPr>
          <a:lstStyle/>
          <a:p>
            <a:pPr algn="just">
              <a:lnSpc>
                <a:spcPct val="150000"/>
              </a:lnSpc>
            </a:pPr>
            <a:r>
              <a:rPr lang="en-US" b="1" u="sng" dirty="0"/>
              <a:t>5 Funding Intensity by Year (Heat Map) :</a:t>
            </a:r>
          </a:p>
          <a:p>
            <a:pPr algn="just">
              <a:lnSpc>
                <a:spcPct val="150000"/>
              </a:lnSpc>
            </a:pPr>
            <a:r>
              <a:rPr lang="en-US" dirty="0"/>
              <a:t> The heat map uses </a:t>
            </a:r>
            <a:r>
              <a:rPr lang="en-US" dirty="0" err="1"/>
              <a:t>colour</a:t>
            </a:r>
            <a:r>
              <a:rPr lang="en-US" dirty="0"/>
              <a:t> intensity to represent funding levels. </a:t>
            </a:r>
          </a:p>
          <a:p>
            <a:pPr algn="just">
              <a:lnSpc>
                <a:spcPct val="150000"/>
              </a:lnSpc>
            </a:pPr>
            <a:r>
              <a:rPr lang="en-US" b="1" u="sng" dirty="0"/>
              <a:t>Key Observations: </a:t>
            </a:r>
          </a:p>
          <a:p>
            <a:pPr algn="just">
              <a:lnSpc>
                <a:spcPct val="150000"/>
              </a:lnSpc>
            </a:pPr>
            <a:r>
              <a:rPr lang="en-US" dirty="0"/>
              <a:t>• Darker </a:t>
            </a:r>
            <a:r>
              <a:rPr lang="en-US" dirty="0" err="1"/>
              <a:t>colours</a:t>
            </a:r>
            <a:r>
              <a:rPr lang="en-US" dirty="0"/>
              <a:t> indicate higher funding. </a:t>
            </a:r>
          </a:p>
          <a:p>
            <a:pPr algn="just">
              <a:lnSpc>
                <a:spcPct val="150000"/>
              </a:lnSpc>
            </a:pPr>
            <a:r>
              <a:rPr lang="en-US" dirty="0"/>
              <a:t>• Recent years show higher funding intensity. </a:t>
            </a:r>
          </a:p>
          <a:p>
            <a:pPr algn="just">
              <a:lnSpc>
                <a:spcPct val="150000"/>
              </a:lnSpc>
            </a:pPr>
            <a:r>
              <a:rPr lang="en-US" dirty="0"/>
              <a:t>• Some research areas remain consistently strong. </a:t>
            </a:r>
          </a:p>
          <a:p>
            <a:pPr algn="just">
              <a:lnSpc>
                <a:spcPct val="150000"/>
              </a:lnSpc>
            </a:pPr>
            <a:r>
              <a:rPr lang="en-US" dirty="0"/>
              <a:t>This chart provides a quick visual summary of funding strength. </a:t>
            </a:r>
            <a:endParaRPr dirty="0"/>
          </a:p>
        </p:txBody>
      </p:sp>
    </p:spTree>
    <p:extLst>
      <p:ext uri="{BB962C8B-B14F-4D97-AF65-F5344CB8AC3E}">
        <p14:creationId xmlns:p14="http://schemas.microsoft.com/office/powerpoint/2010/main" val="26770523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007F325-AFB4-B9D2-2A37-0013F54EA88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C3DA637-9C32-84BA-E56F-FB3F6E464B62}"/>
              </a:ext>
            </a:extLst>
          </p:cNvPr>
          <p:cNvSpPr/>
          <p:nvPr/>
        </p:nvSpPr>
        <p:spPr>
          <a:xfrm>
            <a:off x="0" y="0"/>
            <a:ext cx="9144000" cy="685800"/>
          </a:xfrm>
          <a:prstGeom prst="rect">
            <a:avLst/>
          </a:prstGeom>
          <a:solidFill>
            <a:srgbClr val="142846"/>
          </a:solidFill>
          <a:ln>
            <a:solidFill>
              <a:srgbClr val="1428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4515D0F6-23FA-1363-1D35-64905BAE0E36}"/>
              </a:ext>
            </a:extLst>
          </p:cNvPr>
          <p:cNvSpPr txBox="1"/>
          <p:nvPr/>
        </p:nvSpPr>
        <p:spPr>
          <a:xfrm>
            <a:off x="457200" y="73152"/>
            <a:ext cx="3235373" cy="492443"/>
          </a:xfrm>
          <a:prstGeom prst="rect">
            <a:avLst/>
          </a:prstGeom>
          <a:noFill/>
        </p:spPr>
        <p:txBody>
          <a:bodyPr wrap="none">
            <a:spAutoFit/>
          </a:bodyPr>
          <a:lstStyle/>
          <a:p>
            <a:pPr>
              <a:defRPr sz="2600" b="1">
                <a:solidFill>
                  <a:srgbClr val="FFFFFF"/>
                </a:solidFill>
              </a:defRPr>
            </a:pPr>
            <a:r>
              <a:rPr lang="en-IN" sz="2600" b="1" dirty="0"/>
              <a:t>Visualization Analysis </a:t>
            </a:r>
            <a:endParaRPr dirty="0"/>
          </a:p>
        </p:txBody>
      </p:sp>
      <p:sp>
        <p:nvSpPr>
          <p:cNvPr id="4" name="Rounded Rectangle 3">
            <a:extLst>
              <a:ext uri="{FF2B5EF4-FFF2-40B4-BE49-F238E27FC236}">
                <a16:creationId xmlns:a16="http://schemas.microsoft.com/office/drawing/2014/main" id="{B7BD3BBC-1D65-2A19-817E-D32D6F4065D5}"/>
              </a:ext>
            </a:extLst>
          </p:cNvPr>
          <p:cNvSpPr/>
          <p:nvPr/>
        </p:nvSpPr>
        <p:spPr>
          <a:xfrm>
            <a:off x="640080" y="1097280"/>
            <a:ext cx="7772400" cy="4297680"/>
          </a:xfrm>
          <a:prstGeom prst="roundRect">
            <a:avLst/>
          </a:prstGeom>
          <a:solidFill>
            <a:srgbClr val="E4ECF7"/>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443D6459-6ADD-92B8-4CFC-211A55B25FDD}"/>
              </a:ext>
            </a:extLst>
          </p:cNvPr>
          <p:cNvSpPr txBox="1"/>
          <p:nvPr/>
        </p:nvSpPr>
        <p:spPr>
          <a:xfrm>
            <a:off x="840828" y="1325880"/>
            <a:ext cx="7388772" cy="2957861"/>
          </a:xfrm>
          <a:prstGeom prst="rect">
            <a:avLst/>
          </a:prstGeom>
          <a:noFill/>
        </p:spPr>
        <p:txBody>
          <a:bodyPr wrap="square">
            <a:spAutoFit/>
          </a:bodyPr>
          <a:lstStyle/>
          <a:p>
            <a:pPr algn="just">
              <a:lnSpc>
                <a:spcPct val="150000"/>
              </a:lnSpc>
            </a:pPr>
            <a:r>
              <a:rPr lang="en-US" b="1" u="sng" dirty="0"/>
              <a:t>6 Doughnut Chart :</a:t>
            </a:r>
          </a:p>
          <a:p>
            <a:pPr algn="just">
              <a:lnSpc>
                <a:spcPct val="150000"/>
              </a:lnSpc>
            </a:pPr>
            <a:r>
              <a:rPr lang="en-US" dirty="0"/>
              <a:t>Funding Distribution for Selected Year - The doughnut chart shows total funding for a selected year. </a:t>
            </a:r>
          </a:p>
          <a:p>
            <a:pPr algn="just">
              <a:lnSpc>
                <a:spcPct val="150000"/>
              </a:lnSpc>
            </a:pPr>
            <a:r>
              <a:rPr lang="en-US" b="1" u="sng" dirty="0"/>
              <a:t>Key Observations: </a:t>
            </a:r>
          </a:p>
          <a:p>
            <a:pPr algn="just">
              <a:lnSpc>
                <a:spcPct val="150000"/>
              </a:lnSpc>
            </a:pPr>
            <a:r>
              <a:rPr lang="en-US" dirty="0"/>
              <a:t>• Displays overall funding clearly in the center. </a:t>
            </a:r>
          </a:p>
          <a:p>
            <a:pPr algn="just">
              <a:lnSpc>
                <a:spcPct val="150000"/>
              </a:lnSpc>
            </a:pPr>
            <a:r>
              <a:rPr lang="en-US" dirty="0"/>
              <a:t>• Helps in understanding yearly funding distribution. </a:t>
            </a:r>
          </a:p>
          <a:p>
            <a:pPr algn="just">
              <a:lnSpc>
                <a:spcPct val="150000"/>
              </a:lnSpc>
            </a:pPr>
            <a:r>
              <a:rPr lang="en-US" dirty="0"/>
              <a:t>• Useful for summary-level insights.</a:t>
            </a:r>
            <a:endParaRPr dirty="0"/>
          </a:p>
        </p:txBody>
      </p:sp>
    </p:spTree>
    <p:extLst>
      <p:ext uri="{BB962C8B-B14F-4D97-AF65-F5344CB8AC3E}">
        <p14:creationId xmlns:p14="http://schemas.microsoft.com/office/powerpoint/2010/main" val="19961081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42846"/>
          </a:solidFill>
          <a:ln>
            <a:solidFill>
              <a:srgbClr val="1428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7315200" cy="457200"/>
          </a:xfrm>
          <a:prstGeom prst="rect">
            <a:avLst/>
          </a:prstGeom>
          <a:noFill/>
        </p:spPr>
        <p:txBody>
          <a:bodyPr wrap="none">
            <a:spAutoFit/>
          </a:bodyPr>
          <a:lstStyle/>
          <a:p>
            <a:pPr>
              <a:defRPr sz="2600" b="1">
                <a:solidFill>
                  <a:srgbClr val="FFFFFF"/>
                </a:solidFill>
              </a:defRPr>
            </a:pPr>
            <a:r>
              <a:t>Insights</a:t>
            </a:r>
          </a:p>
        </p:txBody>
      </p:sp>
      <p:sp>
        <p:nvSpPr>
          <p:cNvPr id="4" name="Rounded Rectangle 3"/>
          <p:cNvSpPr/>
          <p:nvPr/>
        </p:nvSpPr>
        <p:spPr>
          <a:xfrm>
            <a:off x="640080" y="1097280"/>
            <a:ext cx="7772400" cy="4297680"/>
          </a:xfrm>
          <a:prstGeom prst="roundRect">
            <a:avLst/>
          </a:prstGeom>
          <a:solidFill>
            <a:srgbClr val="E4ECF7"/>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241957" y="1325880"/>
            <a:ext cx="6713323" cy="2819362"/>
          </a:xfrm>
          <a:prstGeom prst="rect">
            <a:avLst/>
          </a:prstGeom>
          <a:noFill/>
        </p:spPr>
        <p:txBody>
          <a:bodyPr wrap="square">
            <a:spAutoFit/>
          </a:bodyPr>
          <a:lstStyle/>
          <a:p>
            <a:pPr marL="285750" indent="-285750" algn="just">
              <a:buFont typeface="Arial" panose="020B0604020202020204" pitchFamily="34" charset="0"/>
              <a:buChar char="•"/>
            </a:pPr>
            <a:r>
              <a:rPr lang="en-US" dirty="0"/>
              <a:t>Research funding has increased over the years. </a:t>
            </a:r>
          </a:p>
          <a:p>
            <a:pPr marL="285750" indent="-285750" algn="just">
              <a:lnSpc>
                <a:spcPct val="150000"/>
              </a:lnSpc>
              <a:buFont typeface="Arial" panose="020B0604020202020204" pitchFamily="34" charset="0"/>
              <a:buChar char="•"/>
            </a:pPr>
            <a:r>
              <a:rPr lang="en-US" dirty="0"/>
              <a:t>Funding distribution is uneven across research areas. </a:t>
            </a:r>
          </a:p>
          <a:p>
            <a:pPr marL="285750" indent="-285750" algn="just">
              <a:lnSpc>
                <a:spcPct val="150000"/>
              </a:lnSpc>
              <a:buFont typeface="Arial" panose="020B0604020202020204" pitchFamily="34" charset="0"/>
              <a:buChar char="•"/>
            </a:pPr>
            <a:r>
              <a:rPr lang="en-US" dirty="0"/>
              <a:t>Certain areas consistently receive higher funding.</a:t>
            </a:r>
          </a:p>
          <a:p>
            <a:pPr marL="285750" indent="-285750" algn="just">
              <a:lnSpc>
                <a:spcPct val="150000"/>
              </a:lnSpc>
              <a:buFont typeface="Arial" panose="020B0604020202020204" pitchFamily="34" charset="0"/>
              <a:buChar char="•"/>
            </a:pPr>
            <a:r>
              <a:rPr lang="en-US" dirty="0"/>
              <a:t>Recent years show stronger funding growth. </a:t>
            </a:r>
          </a:p>
          <a:p>
            <a:pPr marL="285750" indent="-285750">
              <a:lnSpc>
                <a:spcPct val="150000"/>
              </a:lnSpc>
              <a:buFont typeface="Arial" panose="020B0604020202020204" pitchFamily="34" charset="0"/>
              <a:buChar char="•"/>
            </a:pPr>
            <a:r>
              <a:rPr lang="en-IN" dirty="0"/>
              <a:t>Interactive filters improve analysis flexibility.</a:t>
            </a:r>
            <a:br>
              <a:rPr lang="en-US" dirty="0"/>
            </a:br>
            <a:br>
              <a:rPr lang="en-US" dirty="0"/>
            </a:b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42846"/>
          </a:solidFill>
          <a:ln>
            <a:solidFill>
              <a:srgbClr val="1428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7315200" cy="457200"/>
          </a:xfrm>
          <a:prstGeom prst="rect">
            <a:avLst/>
          </a:prstGeom>
          <a:noFill/>
        </p:spPr>
        <p:txBody>
          <a:bodyPr wrap="none">
            <a:spAutoFit/>
          </a:bodyPr>
          <a:lstStyle/>
          <a:p>
            <a:pPr>
              <a:defRPr sz="2600" b="1">
                <a:solidFill>
                  <a:srgbClr val="FFFFFF"/>
                </a:solidFill>
              </a:defRPr>
            </a:pPr>
            <a:r>
              <a:t>Conclusion</a:t>
            </a:r>
          </a:p>
        </p:txBody>
      </p:sp>
      <p:sp>
        <p:nvSpPr>
          <p:cNvPr id="4" name="Rounded Rectangle 3"/>
          <p:cNvSpPr/>
          <p:nvPr/>
        </p:nvSpPr>
        <p:spPr>
          <a:xfrm>
            <a:off x="640080" y="1097280"/>
            <a:ext cx="7772400" cy="4297680"/>
          </a:xfrm>
          <a:prstGeom prst="roundRect">
            <a:avLst/>
          </a:prstGeom>
          <a:solidFill>
            <a:srgbClr val="E4ECF7"/>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1" y="1325880"/>
            <a:ext cx="7233919" cy="1846659"/>
          </a:xfrm>
          <a:prstGeom prst="rect">
            <a:avLst/>
          </a:prstGeom>
          <a:noFill/>
        </p:spPr>
        <p:txBody>
          <a:bodyPr wrap="square">
            <a:spAutoFit/>
          </a:bodyPr>
          <a:lstStyle/>
          <a:p>
            <a:pPr algn="just">
              <a:spcAft>
                <a:spcPts val="1000"/>
              </a:spcAft>
              <a:defRPr sz="1900">
                <a:solidFill>
                  <a:srgbClr val="2D2D2D"/>
                </a:solidFill>
                <a:latin typeface="Calibri"/>
              </a:defRPr>
            </a:pPr>
            <a:r>
              <a:rPr dirty="0"/>
              <a:t>• </a:t>
            </a:r>
            <a:r>
              <a:rPr lang="en-US" sz="1900" dirty="0"/>
              <a:t>The RCDC Research Funding Analysis Dashboard provides a clear and interactive way to analyses funding data. Using multiple visualization techniques helps in understanding trends, comparisons, and distributions effectively. This project demonstrates practical skills in Tableau, data visualization, and analytical thinking, making it suitable for an internship-level submission.</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42846"/>
        </a:solidFill>
        <a:effectLst/>
      </p:bgPr>
    </p:bg>
    <p:spTree>
      <p:nvGrpSpPr>
        <p:cNvPr id="1" name=""/>
        <p:cNvGrpSpPr/>
        <p:nvPr/>
      </p:nvGrpSpPr>
      <p:grpSpPr>
        <a:xfrm>
          <a:off x="0" y="0"/>
          <a:ext cx="0" cy="0"/>
          <a:chOff x="0" y="0"/>
          <a:chExt cx="0" cy="0"/>
        </a:xfrm>
      </p:grpSpPr>
      <p:sp>
        <p:nvSpPr>
          <p:cNvPr id="2" name="TextBox 1"/>
          <p:cNvSpPr txBox="1"/>
          <p:nvPr/>
        </p:nvSpPr>
        <p:spPr>
          <a:xfrm>
            <a:off x="3520440" y="1838960"/>
            <a:ext cx="2103120" cy="615553"/>
          </a:xfrm>
          <a:prstGeom prst="rect">
            <a:avLst/>
          </a:prstGeom>
          <a:noFill/>
        </p:spPr>
        <p:txBody>
          <a:bodyPr wrap="square">
            <a:spAutoFit/>
          </a:bodyPr>
          <a:lstStyle/>
          <a:p>
            <a:pPr>
              <a:defRPr sz="3400" b="1">
                <a:solidFill>
                  <a:srgbClr val="FFFFFF"/>
                </a:solidFill>
              </a:defRPr>
            </a:pPr>
            <a:r>
              <a:rPr dirty="0"/>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55</TotalTime>
  <Words>666</Words>
  <Application>Microsoft Office PowerPoint</Application>
  <PresentationFormat>On-screen Show (4:3)</PresentationFormat>
  <Paragraphs>72</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Abhijeet Kedar</cp:lastModifiedBy>
  <cp:revision>4</cp:revision>
  <dcterms:created xsi:type="dcterms:W3CDTF">2013-01-27T09:14:16Z</dcterms:created>
  <dcterms:modified xsi:type="dcterms:W3CDTF">2026-06-05T12:38:52Z</dcterms:modified>
  <cp:category/>
</cp:coreProperties>
</file>